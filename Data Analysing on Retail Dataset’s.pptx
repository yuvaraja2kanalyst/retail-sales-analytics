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sldIdLst>
    <p:sldId id="256" r:id="rId2"/>
    <p:sldId id="257" r:id="rId3"/>
    <p:sldId id="258" r:id="rId4"/>
    <p:sldId id="259" r:id="rId5"/>
    <p:sldId id="262" r:id="rId6"/>
    <p:sldId id="260" r:id="rId7"/>
    <p:sldId id="263" r:id="rId8"/>
    <p:sldId id="2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0" d="100"/>
          <a:sy n="80" d="100"/>
        </p:scale>
        <p:origin x="78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11/9/2025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992106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11/9/2025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801642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11/9/2025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8182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11/9/2025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609301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11/9/2025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909598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11/9/2025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301375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11/9/2025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974718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11/9/2025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11318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11/9/2025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128754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11/9/2025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676990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11/9/2025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7436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11/9/2025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8339138"/>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E9BCE1-827F-62BB-A07E-C57CDAB0517D}"/>
              </a:ext>
            </a:extLst>
          </p:cNvPr>
          <p:cNvSpPr>
            <a:spLocks noGrp="1"/>
          </p:cNvSpPr>
          <p:nvPr>
            <p:ph type="ctrTitle"/>
          </p:nvPr>
        </p:nvSpPr>
        <p:spPr>
          <a:xfrm>
            <a:off x="7537528" y="170822"/>
            <a:ext cx="4308672" cy="4085987"/>
          </a:xfrm>
        </p:spPr>
        <p:txBody>
          <a:bodyPr anchor="b">
            <a:normAutofit fontScale="90000"/>
          </a:bodyPr>
          <a:lstStyle/>
          <a:p>
            <a:r>
              <a:rPr lang="en-IN" sz="15300" dirty="0"/>
              <a:t>D</a:t>
            </a:r>
            <a:r>
              <a:rPr lang="en-IN" sz="5800" dirty="0"/>
              <a:t>ata </a:t>
            </a:r>
            <a:r>
              <a:rPr lang="en-IN" sz="6700" dirty="0"/>
              <a:t>A</a:t>
            </a:r>
            <a:r>
              <a:rPr lang="en-IN" sz="5800" dirty="0"/>
              <a:t>nalysing on Retail Dataset’s</a:t>
            </a:r>
          </a:p>
        </p:txBody>
      </p:sp>
      <p:sp>
        <p:nvSpPr>
          <p:cNvPr id="3" name="Subtitle 2">
            <a:extLst>
              <a:ext uri="{FF2B5EF4-FFF2-40B4-BE49-F238E27FC236}">
                <a16:creationId xmlns:a16="http://schemas.microsoft.com/office/drawing/2014/main" id="{27316600-63D1-8CE7-776D-B3A54B0F15CB}"/>
              </a:ext>
            </a:extLst>
          </p:cNvPr>
          <p:cNvSpPr>
            <a:spLocks noGrp="1"/>
          </p:cNvSpPr>
          <p:nvPr>
            <p:ph type="subTitle" idx="1"/>
          </p:nvPr>
        </p:nvSpPr>
        <p:spPr>
          <a:xfrm>
            <a:off x="7535756" y="5046281"/>
            <a:ext cx="4308672" cy="1172408"/>
          </a:xfrm>
        </p:spPr>
        <p:txBody>
          <a:bodyPr anchor="t">
            <a:normAutofit/>
          </a:bodyPr>
          <a:lstStyle/>
          <a:p>
            <a:r>
              <a:rPr lang="en-IN" sz="2400" dirty="0">
                <a:latin typeface="Times New Roman" panose="02020603050405020304" pitchFamily="18" charset="0"/>
                <a:cs typeface="Times New Roman" panose="02020603050405020304" pitchFamily="18" charset="0"/>
              </a:rPr>
              <a:t>YUVARAJA K, </a:t>
            </a:r>
          </a:p>
          <a:p>
            <a:r>
              <a:rPr lang="en-IN" sz="2400" dirty="0">
                <a:latin typeface="Times New Roman" panose="02020603050405020304" pitchFamily="18" charset="0"/>
                <a:cs typeface="Times New Roman" panose="02020603050405020304" pitchFamily="18" charset="0"/>
              </a:rPr>
              <a:t>NOVEMBER - 2025</a:t>
            </a:r>
          </a:p>
        </p:txBody>
      </p:sp>
      <p:pic>
        <p:nvPicPr>
          <p:cNvPr id="4" name="Picture 3" descr="Low Angle View Of Clouds In Sky">
            <a:extLst>
              <a:ext uri="{FF2B5EF4-FFF2-40B4-BE49-F238E27FC236}">
                <a16:creationId xmlns:a16="http://schemas.microsoft.com/office/drawing/2014/main" id="{FCE2258A-F0B4-E27B-740C-805B6FE43294}"/>
              </a:ext>
            </a:extLst>
          </p:cNvPr>
          <p:cNvPicPr>
            <a:picLocks noChangeAspect="1"/>
          </p:cNvPicPr>
          <p:nvPr/>
        </p:nvPicPr>
        <p:blipFill>
          <a:blip r:embed="rId2"/>
          <a:srcRect l="15551" r="16986" b="-1"/>
          <a:stretch>
            <a:fillRect/>
          </a:stretch>
        </p:blipFill>
        <p:spPr>
          <a:xfrm>
            <a:off x="20" y="10"/>
            <a:ext cx="6931132" cy="6857990"/>
          </a:xfrm>
          <a:prstGeom prst="rect">
            <a:avLst/>
          </a:prstGeom>
        </p:spPr>
      </p:pic>
      <p:cxnSp>
        <p:nvCxnSpPr>
          <p:cNvPr id="11" name="Straight Connector 10">
            <a:extLst>
              <a:ext uri="{FF2B5EF4-FFF2-40B4-BE49-F238E27FC236}">
                <a16:creationId xmlns:a16="http://schemas.microsoft.com/office/drawing/2014/main" id="{6CA391F1-4B2C-521B-F6A5-52C74B3034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75848" y="47115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1133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BD032F8-5FF2-2E9C-D29A-1F34F68400AD}"/>
              </a:ext>
            </a:extLst>
          </p:cNvPr>
          <p:cNvSpPr txBox="1"/>
          <p:nvPr/>
        </p:nvSpPr>
        <p:spPr>
          <a:xfrm>
            <a:off x="5029200" y="914400"/>
            <a:ext cx="6501810" cy="1097280"/>
          </a:xfrm>
          <a:prstGeom prst="rect">
            <a:avLst/>
          </a:prstGeom>
        </p:spPr>
        <p:txBody>
          <a:bodyPr vert="horz" lIns="91440" tIns="45720" rIns="91440" bIns="45720" rtlCol="0" anchor="t">
            <a:normAutofit/>
          </a:bodyPr>
          <a:lstStyle/>
          <a:p>
            <a:pPr>
              <a:spcBef>
                <a:spcPct val="0"/>
              </a:spcBef>
              <a:spcAft>
                <a:spcPts val="600"/>
              </a:spcAft>
            </a:pPr>
            <a:r>
              <a:rPr lang="en-US" sz="4000" b="1">
                <a:latin typeface="+mj-lt"/>
                <a:ea typeface="+mj-ea"/>
                <a:cs typeface="+mj-cs"/>
              </a:rPr>
              <a:t>INTRODUCTION</a:t>
            </a:r>
          </a:p>
        </p:txBody>
      </p:sp>
      <p:pic>
        <p:nvPicPr>
          <p:cNvPr id="11" name="Picture 10">
            <a:extLst>
              <a:ext uri="{FF2B5EF4-FFF2-40B4-BE49-F238E27FC236}">
                <a16:creationId xmlns:a16="http://schemas.microsoft.com/office/drawing/2014/main" id="{B3384B14-770B-C3E1-8B69-135AA923DEA6}"/>
              </a:ext>
            </a:extLst>
          </p:cNvPr>
          <p:cNvPicPr>
            <a:picLocks noChangeAspect="1"/>
          </p:cNvPicPr>
          <p:nvPr/>
        </p:nvPicPr>
        <p:blipFill>
          <a:blip r:embed="rId2"/>
          <a:srcRect l="9044" r="8459" b="1"/>
          <a:stretch>
            <a:fillRect/>
          </a:stretch>
        </p:blipFill>
        <p:spPr>
          <a:xfrm>
            <a:off x="20" y="914399"/>
            <a:ext cx="4416532" cy="5353523"/>
          </a:xfrm>
          <a:prstGeom prst="rect">
            <a:avLst/>
          </a:prstGeom>
        </p:spPr>
      </p:pic>
      <p:cxnSp>
        <p:nvCxnSpPr>
          <p:cNvPr id="33" name="Straight Connector 32">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8553E45-AE91-E7B0-9812-04A2F0F33FAF}"/>
              </a:ext>
            </a:extLst>
          </p:cNvPr>
          <p:cNvSpPr txBox="1"/>
          <p:nvPr/>
        </p:nvSpPr>
        <p:spPr>
          <a:xfrm>
            <a:off x="5029200" y="2176036"/>
            <a:ext cx="6501810" cy="4121885"/>
          </a:xfrm>
          <a:prstGeom prst="rect">
            <a:avLst/>
          </a:prstGeom>
        </p:spPr>
        <p:txBody>
          <a:bodyPr vert="horz" lIns="91440" tIns="45720" rIns="91440" bIns="45720" rtlCol="0">
            <a:normAutofit/>
          </a:bodyPr>
          <a:lstStyle/>
          <a:p>
            <a:pPr marL="685800">
              <a:lnSpc>
                <a:spcPct val="110000"/>
              </a:lnSpc>
              <a:spcBef>
                <a:spcPts val="600"/>
              </a:spcBef>
              <a:spcAft>
                <a:spcPts val="1000"/>
              </a:spcAft>
              <a:buSzPct val="87000"/>
              <a:buFont typeface="Arial" panose="020B0604020202020204" pitchFamily="34" charset="0"/>
              <a:buChar char="•"/>
            </a:pPr>
            <a:r>
              <a:rPr lang="en-US" sz="1400" dirty="0">
                <a:effectLst/>
              </a:rPr>
              <a:t>The Retail Sales Dataset's consists of a collection of transaction data that includes various attributes such as Transaction ID, Customer ID, Gender, Age, Product Category (Beauty, Clothing, Electronics), Quantity Sold, Price per Unit, Total Sales Amount, and the Date of Transaction.</a:t>
            </a:r>
          </a:p>
          <a:p>
            <a:pPr marL="685800">
              <a:lnSpc>
                <a:spcPct val="110000"/>
              </a:lnSpc>
              <a:spcBef>
                <a:spcPts val="600"/>
              </a:spcBef>
              <a:spcAft>
                <a:spcPts val="1000"/>
              </a:spcAft>
              <a:buSzPct val="87000"/>
              <a:buFont typeface="Arial" panose="020B0604020202020204" pitchFamily="34" charset="0"/>
              <a:buChar char="•"/>
            </a:pPr>
            <a:r>
              <a:rPr lang="en-US" sz="1400" dirty="0">
                <a:effectLst/>
              </a:rPr>
              <a:t>This dataset's provides valuable information about customer purchase behavior across different product categories. By analyzing this data, insights can be gained into which product categories are most popular among different age groups — such as youngsters, adults, and elderly customers.</a:t>
            </a:r>
          </a:p>
          <a:p>
            <a:pPr marL="685800">
              <a:lnSpc>
                <a:spcPct val="110000"/>
              </a:lnSpc>
              <a:spcAft>
                <a:spcPts val="800"/>
              </a:spcAft>
              <a:buSzPct val="87000"/>
              <a:buFont typeface="Arial" panose="020B0604020202020204" pitchFamily="34" charset="0"/>
              <a:buChar char="•"/>
            </a:pPr>
            <a:r>
              <a:rPr lang="en-US" sz="1400" dirty="0">
                <a:effectLst/>
              </a:rPr>
              <a:t>The analysis also helps to identify sales performance by gender, highlighting which products attract male and female customers the most. Furthermore, the dataset's supports the exploration of key areas where business performance can be improved, helping retail managers to strengthen marketing strategies, enhance customer engagement, and ultimately increase overall sales efficiency.</a:t>
            </a:r>
          </a:p>
        </p:txBody>
      </p:sp>
    </p:spTree>
    <p:extLst>
      <p:ext uri="{BB962C8B-B14F-4D97-AF65-F5344CB8AC3E}">
        <p14:creationId xmlns:p14="http://schemas.microsoft.com/office/powerpoint/2010/main" val="3645327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9" name="Rectangle 1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10;&#10;AI-generated content may be incorrect.">
            <a:extLst>
              <a:ext uri="{FF2B5EF4-FFF2-40B4-BE49-F238E27FC236}">
                <a16:creationId xmlns:a16="http://schemas.microsoft.com/office/drawing/2014/main" id="{CA6F3644-E2EB-DB4A-394A-2885F9458241}"/>
              </a:ext>
            </a:extLst>
          </p:cNvPr>
          <p:cNvPicPr>
            <a:picLocks noChangeAspect="1"/>
          </p:cNvPicPr>
          <p:nvPr/>
        </p:nvPicPr>
        <p:blipFill>
          <a:blip r:embed="rId2">
            <a:extLst>
              <a:ext uri="{28A0092B-C50C-407E-A947-70E740481C1C}">
                <a14:useLocalDpi xmlns:a14="http://schemas.microsoft.com/office/drawing/2010/main" val="0"/>
              </a:ext>
            </a:extLst>
          </a:blip>
          <a:srcRect l="9091" t="9091"/>
          <a:stretch>
            <a:fillRect/>
          </a:stretch>
        </p:blipFill>
        <p:spPr>
          <a:xfrm>
            <a:off x="20" y="10"/>
            <a:ext cx="12191979" cy="6857990"/>
          </a:xfrm>
          <a:prstGeom prst="rect">
            <a:avLst/>
          </a:prstGeom>
        </p:spPr>
      </p:pic>
      <p:sp>
        <p:nvSpPr>
          <p:cNvPr id="20" name="Rectangle 19">
            <a:extLst>
              <a:ext uri="{FF2B5EF4-FFF2-40B4-BE49-F238E27FC236}">
                <a16:creationId xmlns:a16="http://schemas.microsoft.com/office/drawing/2014/main" id="{122AB34F-E75C-451A-8410-05B6C249E9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648484"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4D7C96-509D-459E-180C-36854E9BA3D7}"/>
              </a:ext>
            </a:extLst>
          </p:cNvPr>
          <p:cNvSpPr>
            <a:spLocks noGrp="1"/>
          </p:cNvSpPr>
          <p:nvPr>
            <p:ph type="title"/>
          </p:nvPr>
        </p:nvSpPr>
        <p:spPr>
          <a:xfrm>
            <a:off x="6638061" y="914400"/>
            <a:ext cx="4892948" cy="3427867"/>
          </a:xfrm>
        </p:spPr>
        <p:txBody>
          <a:bodyPr vert="horz" lIns="91440" tIns="45720" rIns="91440" bIns="45720" rtlCol="0" anchor="t">
            <a:normAutofit/>
          </a:bodyPr>
          <a:lstStyle/>
          <a:p>
            <a:pPr algn="r">
              <a:lnSpc>
                <a:spcPct val="90000"/>
              </a:lnSpc>
            </a:pPr>
            <a:r>
              <a:rPr lang="en-US" sz="4200" b="1" kern="1200">
                <a:solidFill>
                  <a:srgbClr val="FFFFFF"/>
                </a:solidFill>
                <a:latin typeface="+mj-lt"/>
                <a:ea typeface="+mj-ea"/>
                <a:cs typeface="+mj-cs"/>
              </a:rPr>
              <a:t>From Analysing the data using power bi we derived column chart by group wise </a:t>
            </a:r>
          </a:p>
        </p:txBody>
      </p:sp>
      <p:cxnSp>
        <p:nvCxnSpPr>
          <p:cNvPr id="21" name="Straight Connector 20">
            <a:extLst>
              <a:ext uri="{FF2B5EF4-FFF2-40B4-BE49-F238E27FC236}">
                <a16:creationId xmlns:a16="http://schemas.microsoft.com/office/drawing/2014/main" id="{97CC2FE6-3AD0-4131-B4BC-1F4D65E25E1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438375" y="4861206"/>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867162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graph&#10;&#10;AI-generated content may be incorrect.">
            <a:extLst>
              <a:ext uri="{FF2B5EF4-FFF2-40B4-BE49-F238E27FC236}">
                <a16:creationId xmlns:a16="http://schemas.microsoft.com/office/drawing/2014/main" id="{A056719F-CAEA-DB64-0767-A8463E22939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20" y="10"/>
            <a:ext cx="12191979" cy="6857990"/>
          </a:xfrm>
          <a:prstGeom prst="rect">
            <a:avLst/>
          </a:prstGeom>
        </p:spPr>
      </p:pic>
      <p:sp>
        <p:nvSpPr>
          <p:cNvPr id="14" name="Rectangle 13">
            <a:extLst>
              <a:ext uri="{FF2B5EF4-FFF2-40B4-BE49-F238E27FC236}">
                <a16:creationId xmlns:a16="http://schemas.microsoft.com/office/drawing/2014/main" id="{0AF66B7C-69F6-439C-A508-14C94AF6BA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961948" y="0"/>
            <a:ext cx="7230052"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6FF080-3F34-C66E-E8A8-ACF5589BF829}"/>
              </a:ext>
            </a:extLst>
          </p:cNvPr>
          <p:cNvSpPr>
            <a:spLocks noGrp="1"/>
          </p:cNvSpPr>
          <p:nvPr>
            <p:ph type="title"/>
          </p:nvPr>
        </p:nvSpPr>
        <p:spPr>
          <a:xfrm>
            <a:off x="6638062" y="914400"/>
            <a:ext cx="4892948" cy="3427867"/>
          </a:xfrm>
        </p:spPr>
        <p:txBody>
          <a:bodyPr vert="horz" lIns="91440" tIns="45720" rIns="91440" bIns="45720" rtlCol="0" anchor="t">
            <a:normAutofit/>
          </a:bodyPr>
          <a:lstStyle/>
          <a:p>
            <a:pPr algn="r">
              <a:lnSpc>
                <a:spcPct val="90000"/>
              </a:lnSpc>
            </a:pPr>
            <a:r>
              <a:rPr lang="en-US" sz="4600" b="1" kern="1200" dirty="0">
                <a:solidFill>
                  <a:srgbClr val="FFFFFF"/>
                </a:solidFill>
                <a:latin typeface="+mj-lt"/>
                <a:ea typeface="+mj-ea"/>
                <a:cs typeface="+mj-cs"/>
              </a:rPr>
              <a:t>Month wise Total Sales has been </a:t>
            </a:r>
            <a:r>
              <a:rPr lang="en-US" sz="4600" b="1" kern="1200" dirty="0" err="1">
                <a:solidFill>
                  <a:srgbClr val="FFFFFF"/>
                </a:solidFill>
                <a:latin typeface="+mj-lt"/>
                <a:ea typeface="+mj-ea"/>
                <a:cs typeface="+mj-cs"/>
              </a:rPr>
              <a:t>analysed</a:t>
            </a:r>
            <a:r>
              <a:rPr lang="en-US" sz="4600" b="1" kern="1200" dirty="0">
                <a:solidFill>
                  <a:srgbClr val="FFFFFF"/>
                </a:solidFill>
                <a:latin typeface="+mj-lt"/>
                <a:ea typeface="+mj-ea"/>
                <a:cs typeface="+mj-cs"/>
              </a:rPr>
              <a:t> using the trend line chart.</a:t>
            </a:r>
          </a:p>
        </p:txBody>
      </p:sp>
      <p:cxnSp>
        <p:nvCxnSpPr>
          <p:cNvPr id="16" name="Straight Connector 15">
            <a:extLst>
              <a:ext uri="{FF2B5EF4-FFF2-40B4-BE49-F238E27FC236}">
                <a16:creationId xmlns:a16="http://schemas.microsoft.com/office/drawing/2014/main" id="{97CC2FE6-3AD0-4131-B4BC-1F4D65E25E1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438376" y="4861206"/>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2917531"/>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F1176-43FD-34B2-32AD-C4998DCC1A30}"/>
              </a:ext>
            </a:extLst>
          </p:cNvPr>
          <p:cNvSpPr>
            <a:spLocks noGrp="1"/>
          </p:cNvSpPr>
          <p:nvPr>
            <p:ph type="title"/>
          </p:nvPr>
        </p:nvSpPr>
        <p:spPr/>
        <p:txBody>
          <a:bodyPr/>
          <a:lstStyle/>
          <a:p>
            <a:r>
              <a:rPr lang="en-IN" dirty="0">
                <a:latin typeface="Aptos Black" panose="020F0502020204030204" pitchFamily="34" charset="0"/>
              </a:rPr>
              <a:t>OBSERVATION</a:t>
            </a:r>
            <a:r>
              <a:rPr lang="en-IN" dirty="0"/>
              <a:t>:</a:t>
            </a:r>
          </a:p>
        </p:txBody>
      </p:sp>
      <p:sp>
        <p:nvSpPr>
          <p:cNvPr id="3" name="Content Placeholder 2">
            <a:extLst>
              <a:ext uri="{FF2B5EF4-FFF2-40B4-BE49-F238E27FC236}">
                <a16:creationId xmlns:a16="http://schemas.microsoft.com/office/drawing/2014/main" id="{AB541669-DA46-0809-E636-52ECE1401D32}"/>
              </a:ext>
            </a:extLst>
          </p:cNvPr>
          <p:cNvSpPr>
            <a:spLocks noGrp="1"/>
          </p:cNvSpPr>
          <p:nvPr>
            <p:ph idx="1"/>
          </p:nvPr>
        </p:nvSpPr>
        <p:spPr>
          <a:xfrm>
            <a:off x="640080" y="2066925"/>
            <a:ext cx="10890928" cy="4132707"/>
          </a:xfrm>
        </p:spPr>
        <p:txBody>
          <a:bodyPr>
            <a:normAutofit/>
          </a:bodyPr>
          <a:lstStyle/>
          <a:p>
            <a:r>
              <a:rPr lang="en-IN" sz="2400" dirty="0">
                <a:latin typeface="Times New Roman" panose="02020603050405020304" pitchFamily="18" charset="0"/>
                <a:cs typeface="Times New Roman" panose="02020603050405020304" pitchFamily="18" charset="0"/>
              </a:rPr>
              <a:t>Based on the analysis of the date-wise sales report, it is observed that the maximum sales were achieved during May 2025, indicating a strong performance in that month. However, a significant drop in sales was noticed in September 2025, marking the lowest sales for the financial year.</a:t>
            </a:r>
          </a:p>
          <a:p>
            <a:r>
              <a:rPr lang="en-IN" sz="2400" dirty="0">
                <a:latin typeface="Times New Roman" panose="02020603050405020304" pitchFamily="18" charset="0"/>
                <a:cs typeface="Times New Roman" panose="02020603050405020304" pitchFamily="18" charset="0"/>
              </a:rPr>
              <a:t>This variation highlights a noticeable difference in monthly sales performance, which requires further investigation. The management team should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the possible factors contributing to this decline — such as seasonal demand changes, marketing activity, product availability, or customer interest — and take corrective actions.</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0131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10;&#10;AI-generated content may be incorrect.">
            <a:extLst>
              <a:ext uri="{FF2B5EF4-FFF2-40B4-BE49-F238E27FC236}">
                <a16:creationId xmlns:a16="http://schemas.microsoft.com/office/drawing/2014/main" id="{72D7724D-E5E5-ADA7-2BDD-6C908BE0D4DF}"/>
              </a:ext>
            </a:extLst>
          </p:cNvPr>
          <p:cNvPicPr>
            <a:picLocks noChangeAspect="1"/>
          </p:cNvPicPr>
          <p:nvPr/>
        </p:nvPicPr>
        <p:blipFill>
          <a:blip r:embed="rId2">
            <a:extLst>
              <a:ext uri="{28A0092B-C50C-407E-A947-70E740481C1C}">
                <a14:useLocalDpi xmlns:a14="http://schemas.microsoft.com/office/drawing/2010/main" val="0"/>
              </a:ext>
            </a:extLst>
          </a:blip>
          <a:srcRect l="9091" t="8856" b="235"/>
          <a:stretch>
            <a:fillRect/>
          </a:stretch>
        </p:blipFill>
        <p:spPr>
          <a:xfrm>
            <a:off x="20" y="10"/>
            <a:ext cx="12191979" cy="6857990"/>
          </a:xfrm>
          <a:prstGeom prst="rect">
            <a:avLst/>
          </a:prstGeom>
        </p:spPr>
      </p:pic>
      <p:sp>
        <p:nvSpPr>
          <p:cNvPr id="14" name="Rectangle 13">
            <a:extLst>
              <a:ext uri="{FF2B5EF4-FFF2-40B4-BE49-F238E27FC236}">
                <a16:creationId xmlns:a16="http://schemas.microsoft.com/office/drawing/2014/main" id="{122AB34F-E75C-451A-8410-05B6C249E9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648484" y="0"/>
            <a:ext cx="8543515" cy="6858000"/>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A73486-99BB-5471-50A6-1DE858BE2780}"/>
              </a:ext>
            </a:extLst>
          </p:cNvPr>
          <p:cNvSpPr>
            <a:spLocks noGrp="1"/>
          </p:cNvSpPr>
          <p:nvPr>
            <p:ph type="title"/>
          </p:nvPr>
        </p:nvSpPr>
        <p:spPr>
          <a:xfrm>
            <a:off x="6638061" y="914400"/>
            <a:ext cx="4892948" cy="3427867"/>
          </a:xfrm>
        </p:spPr>
        <p:txBody>
          <a:bodyPr vert="horz" lIns="91440" tIns="45720" rIns="91440" bIns="45720" rtlCol="0" anchor="t">
            <a:normAutofit/>
          </a:bodyPr>
          <a:lstStyle/>
          <a:p>
            <a:pPr algn="r">
              <a:lnSpc>
                <a:spcPct val="90000"/>
              </a:lnSpc>
            </a:pPr>
            <a:r>
              <a:rPr lang="en-US" sz="3800" b="1" kern="1200">
                <a:solidFill>
                  <a:srgbClr val="FFFFFF"/>
                </a:solidFill>
                <a:latin typeface="+mj-lt"/>
                <a:ea typeface="+mj-ea"/>
                <a:cs typeface="+mj-cs"/>
              </a:rPr>
              <a:t>Visualizing Dashboards has been created to easily represents the real value of the datasets of retail sales</a:t>
            </a:r>
          </a:p>
        </p:txBody>
      </p:sp>
      <p:cxnSp>
        <p:nvCxnSpPr>
          <p:cNvPr id="16" name="Straight Connector 15">
            <a:extLst>
              <a:ext uri="{FF2B5EF4-FFF2-40B4-BE49-F238E27FC236}">
                <a16:creationId xmlns:a16="http://schemas.microsoft.com/office/drawing/2014/main" id="{97CC2FE6-3AD0-4131-B4BC-1F4D65E25E1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438375" y="4861206"/>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4870358"/>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AF2A1-C2B6-D121-1D8E-33136FD44BE4}"/>
              </a:ext>
            </a:extLst>
          </p:cNvPr>
          <p:cNvSpPr>
            <a:spLocks noGrp="1"/>
          </p:cNvSpPr>
          <p:nvPr>
            <p:ph type="title"/>
          </p:nvPr>
        </p:nvSpPr>
        <p:spPr>
          <a:xfrm>
            <a:off x="640078" y="409576"/>
            <a:ext cx="10890929" cy="1097280"/>
          </a:xfrm>
        </p:spPr>
        <p:txBody>
          <a:bodyPr/>
          <a:lstStyle/>
          <a:p>
            <a:r>
              <a:rPr lang="en-IN" dirty="0">
                <a:latin typeface="Aharoni" panose="020F0502020204030204" pitchFamily="2" charset="-79"/>
                <a:cs typeface="Aharoni" panose="020F0502020204030204" pitchFamily="2" charset="-79"/>
              </a:rPr>
              <a:t>From the Dashboard</a:t>
            </a:r>
          </a:p>
        </p:txBody>
      </p:sp>
      <p:sp>
        <p:nvSpPr>
          <p:cNvPr id="3" name="Content Placeholder 2">
            <a:extLst>
              <a:ext uri="{FF2B5EF4-FFF2-40B4-BE49-F238E27FC236}">
                <a16:creationId xmlns:a16="http://schemas.microsoft.com/office/drawing/2014/main" id="{CF46619F-512D-08AB-48CC-9A50C90C115C}"/>
              </a:ext>
            </a:extLst>
          </p:cNvPr>
          <p:cNvSpPr>
            <a:spLocks noGrp="1"/>
          </p:cNvSpPr>
          <p:nvPr>
            <p:ph idx="1"/>
          </p:nvPr>
        </p:nvSpPr>
        <p:spPr>
          <a:xfrm>
            <a:off x="640079" y="1506856"/>
            <a:ext cx="10890928" cy="5125401"/>
          </a:xfrm>
        </p:spPr>
        <p:txBody>
          <a:bodyPr>
            <a:normAutofit fontScale="92500"/>
          </a:bodyPr>
          <a:lstStyle/>
          <a:p>
            <a:pPr lvl="0"/>
            <a:r>
              <a:rPr lang="en-IN" dirty="0">
                <a:latin typeface="Times New Roman" panose="02020603050405020304" pitchFamily="18" charset="0"/>
                <a:cs typeface="Times New Roman" panose="02020603050405020304" pitchFamily="18" charset="0"/>
              </a:rPr>
              <a:t>The above Donut Chart clearly represents the sales distribution of various product categories based on gender. From this analysis, a valuable observation can be made: Electronic products show high demand among male customers with total sales of </a:t>
            </a:r>
            <a:r>
              <a:rPr lang="en-IN" b="1" dirty="0">
                <a:latin typeface="Times New Roman" panose="02020603050405020304" pitchFamily="18" charset="0"/>
                <a:cs typeface="Times New Roman" panose="02020603050405020304" pitchFamily="18" charset="0"/>
              </a:rPr>
              <a:t>₹80,170</a:t>
            </a:r>
            <a:r>
              <a:rPr lang="en-IN" dirty="0">
                <a:latin typeface="Times New Roman" panose="02020603050405020304" pitchFamily="18" charset="0"/>
                <a:cs typeface="Times New Roman" panose="02020603050405020304" pitchFamily="18" charset="0"/>
              </a:rPr>
              <a:t>, whereas female customers demonstrate strong interest in purchasing Clothing products, contributing to </a:t>
            </a:r>
            <a:r>
              <a:rPr lang="en-IN" b="1" dirty="0">
                <a:latin typeface="Times New Roman" panose="02020603050405020304" pitchFamily="18" charset="0"/>
                <a:cs typeface="Times New Roman" panose="02020603050405020304" pitchFamily="18" charset="0"/>
              </a:rPr>
              <a:t>₹81,275</a:t>
            </a:r>
            <a:r>
              <a:rPr lang="en-IN" dirty="0">
                <a:latin typeface="Times New Roman" panose="02020603050405020304" pitchFamily="18" charset="0"/>
                <a:cs typeface="Times New Roman" panose="02020603050405020304" pitchFamily="18" charset="0"/>
              </a:rPr>
              <a:t> in total sales.</a:t>
            </a:r>
          </a:p>
          <a:p>
            <a:pPr lvl="0"/>
            <a:r>
              <a:rPr lang="en-IN" dirty="0">
                <a:latin typeface="Times New Roman" panose="02020603050405020304" pitchFamily="18" charset="0"/>
                <a:cs typeface="Times New Roman" panose="02020603050405020304" pitchFamily="18" charset="0"/>
              </a:rPr>
              <a:t>However, sales of Beauty products among male customers are noticeably lower, indicating that this category does not attract much interest from the male segment. Therefore, it is recommended that the management and sales department focus on improving the quality, availability, and promotional strategies for Beauty products targeted at male customers to achieve more balanced sales across categories.</a:t>
            </a:r>
          </a:p>
          <a:p>
            <a:pPr lvl="0"/>
            <a:r>
              <a:rPr lang="en-IN" dirty="0">
                <a:latin typeface="Times New Roman" panose="02020603050405020304" pitchFamily="18" charset="0"/>
                <a:cs typeface="Times New Roman" panose="02020603050405020304" pitchFamily="18" charset="0"/>
              </a:rPr>
              <a:t>A similar pattern is also observed among female customers, where Beauty product sales are relatively lower compared to other categories. Hence, the management should pay special attention to enhancing product variety, maintaining quality standards, and adjusting pricing margins based on product quality. These improvements can help achieve higher and more uniform sales performance across all product categories.</a:t>
            </a:r>
          </a:p>
          <a:p>
            <a:r>
              <a:rPr lang="en-IN"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4755150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8FC831-6DB0-5F37-E7FD-404171E710F7}"/>
              </a:ext>
            </a:extLst>
          </p:cNvPr>
          <p:cNvSpPr>
            <a:spLocks noGrp="1"/>
          </p:cNvSpPr>
          <p:nvPr>
            <p:ph type="title"/>
          </p:nvPr>
        </p:nvSpPr>
        <p:spPr>
          <a:xfrm>
            <a:off x="5496821" y="1371600"/>
            <a:ext cx="6034187" cy="1097280"/>
          </a:xfrm>
        </p:spPr>
        <p:txBody>
          <a:bodyPr>
            <a:normAutofit/>
          </a:bodyPr>
          <a:lstStyle/>
          <a:p>
            <a:pPr>
              <a:lnSpc>
                <a:spcPct val="90000"/>
              </a:lnSpc>
            </a:pPr>
            <a:r>
              <a:rPr lang="en-IN" sz="3400">
                <a:latin typeface="Amasis MT Pro Black" panose="020F0502020204030204" pitchFamily="18" charset="0"/>
              </a:rPr>
              <a:t>Conclusion</a:t>
            </a:r>
            <a:r>
              <a:rPr lang="en-IN" sz="3400"/>
              <a:t>:</a:t>
            </a:r>
            <a:br>
              <a:rPr lang="en-IN" sz="3400"/>
            </a:br>
            <a:endParaRPr lang="en-IN" sz="3400"/>
          </a:p>
        </p:txBody>
      </p:sp>
      <p:pic>
        <p:nvPicPr>
          <p:cNvPr id="1026" name="Picture 2" descr="Naive data analyst stickers collection | Free Vector">
            <a:extLst>
              <a:ext uri="{FF2B5EF4-FFF2-40B4-BE49-F238E27FC236}">
                <a16:creationId xmlns:a16="http://schemas.microsoft.com/office/drawing/2014/main" id="{68BC58C5-60C9-FF3C-EF52-373B6365A8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5865" r="13299"/>
          <a:stretch>
            <a:fillRect/>
          </a:stretch>
        </p:blipFill>
        <p:spPr bwMode="auto">
          <a:xfrm>
            <a:off x="20" y="10"/>
            <a:ext cx="4857871" cy="6857990"/>
          </a:xfrm>
          <a:prstGeom prst="rect">
            <a:avLst/>
          </a:prstGeom>
          <a:noFill/>
          <a:extLst>
            <a:ext uri="{909E8E84-426E-40DD-AFC4-6F175D3DCCD1}">
              <a14:hiddenFill xmlns:a14="http://schemas.microsoft.com/office/drawing/2010/main">
                <a:solidFill>
                  <a:srgbClr val="FFFFFF"/>
                </a:solidFill>
              </a14:hiddenFill>
            </a:ext>
          </a:extLst>
        </p:spPr>
      </p:pic>
      <p:cxnSp>
        <p:nvCxnSpPr>
          <p:cNvPr id="1033" name="Straight Connector 1032">
            <a:extLst>
              <a:ext uri="{FF2B5EF4-FFF2-40B4-BE49-F238E27FC236}">
                <a16:creationId xmlns:a16="http://schemas.microsoft.com/office/drawing/2014/main" id="{691422F5-4221-4812-AFD9-5479C6D60A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80905" y="1031005"/>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515C8DD-A75B-1BE7-1EA6-EFC659027BC3}"/>
              </a:ext>
            </a:extLst>
          </p:cNvPr>
          <p:cNvSpPr>
            <a:spLocks noGrp="1"/>
          </p:cNvSpPr>
          <p:nvPr>
            <p:ph idx="1"/>
          </p:nvPr>
        </p:nvSpPr>
        <p:spPr>
          <a:xfrm>
            <a:off x="5496821" y="2633236"/>
            <a:ext cx="6034187" cy="3664687"/>
          </a:xfrm>
        </p:spPr>
        <p:txBody>
          <a:bodyPr>
            <a:normAutofit/>
          </a:bodyPr>
          <a:lstStyle/>
          <a:p>
            <a:pPr lvl="0"/>
            <a:r>
              <a:rPr lang="en-IN">
                <a:latin typeface="Times New Roman" panose="02020603050405020304" pitchFamily="18" charset="0"/>
                <a:cs typeface="Times New Roman" panose="02020603050405020304" pitchFamily="18" charset="0"/>
              </a:rPr>
              <a:t>Improve promotional strategies for underperforming product categories (especially Beauty).</a:t>
            </a:r>
          </a:p>
          <a:p>
            <a:pPr lvl="0"/>
            <a:r>
              <a:rPr lang="en-IN">
                <a:latin typeface="Times New Roman" panose="02020603050405020304" pitchFamily="18" charset="0"/>
                <a:cs typeface="Times New Roman" panose="02020603050405020304" pitchFamily="18" charset="0"/>
              </a:rPr>
              <a:t>Increase inventory and offers for high-demand categories like Clothing and Electronics.</a:t>
            </a:r>
          </a:p>
          <a:p>
            <a:pPr lvl="0"/>
            <a:r>
              <a:rPr lang="en-IN">
                <a:latin typeface="Times New Roman" panose="02020603050405020304" pitchFamily="18" charset="0"/>
                <a:cs typeface="Times New Roman" panose="02020603050405020304" pitchFamily="18" charset="0"/>
              </a:rPr>
              <a:t>Introduce targeted campaigns for specific age and gender segments.</a:t>
            </a:r>
          </a:p>
          <a:p>
            <a:pPr lvl="0"/>
            <a:r>
              <a:rPr lang="en-IN">
                <a:latin typeface="Times New Roman" panose="02020603050405020304" pitchFamily="18" charset="0"/>
                <a:cs typeface="Times New Roman" panose="02020603050405020304" pitchFamily="18" charset="0"/>
              </a:rPr>
              <a:t>Regularly monitor </a:t>
            </a:r>
            <a:r>
              <a:rPr lang="en-US" b="1">
                <a:latin typeface="Times New Roman" panose="02020603050405020304" pitchFamily="18" charset="0"/>
                <a:cs typeface="Times New Roman" panose="02020603050405020304" pitchFamily="18" charset="0"/>
              </a:rPr>
              <a:t>monthly</a:t>
            </a:r>
            <a:r>
              <a:rPr lang="en-IN">
                <a:latin typeface="Times New Roman" panose="02020603050405020304" pitchFamily="18" charset="0"/>
                <a:cs typeface="Times New Roman" panose="02020603050405020304" pitchFamily="18" charset="0"/>
              </a:rPr>
              <a:t> sales to identify early signs of decline</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647533507"/>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docProps/app.xml><?xml version="1.0" encoding="utf-8"?>
<Properties xmlns="http://schemas.openxmlformats.org/officeDocument/2006/extended-properties" xmlns:vt="http://schemas.openxmlformats.org/officeDocument/2006/docPropsVTypes">
  <TotalTime>20</TotalTime>
  <Words>557</Words>
  <Application>Microsoft Office PowerPoint</Application>
  <PresentationFormat>Widescreen</PresentationFormat>
  <Paragraphs>23</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Aharoni</vt:lpstr>
      <vt:lpstr>Amasis MT Pro Black</vt:lpstr>
      <vt:lpstr>Aptos Black</vt:lpstr>
      <vt:lpstr>Arial</vt:lpstr>
      <vt:lpstr>Grandview Display</vt:lpstr>
      <vt:lpstr>Times New Roman</vt:lpstr>
      <vt:lpstr>DashVTI</vt:lpstr>
      <vt:lpstr>Data Analysing on Retail Dataset’s</vt:lpstr>
      <vt:lpstr>PowerPoint Presentation</vt:lpstr>
      <vt:lpstr>From Analysing the data using power bi we derived column chart by group wise </vt:lpstr>
      <vt:lpstr>Month wise Total Sales has been analysed using the trend line chart.</vt:lpstr>
      <vt:lpstr>OBSERVATION:</vt:lpstr>
      <vt:lpstr>Visualizing Dashboards has been created to easily represents the real value of the datasets of retail sales</vt:lpstr>
      <vt:lpstr>From the Dashboard</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yuva raja</dc:creator>
  <cp:lastModifiedBy>yuva raja</cp:lastModifiedBy>
  <cp:revision>9</cp:revision>
  <dcterms:created xsi:type="dcterms:W3CDTF">2025-11-09T16:34:46Z</dcterms:created>
  <dcterms:modified xsi:type="dcterms:W3CDTF">2025-11-09T16:56:49Z</dcterms:modified>
</cp:coreProperties>
</file>